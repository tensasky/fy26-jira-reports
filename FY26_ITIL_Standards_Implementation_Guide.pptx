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731520"/>
            <a:ext cx="4114800" cy="548640"/>
          </a:xfrm>
          <a:prstGeom prst="roundRect">
            <a:avLst/>
          </a:prstGeom>
          <a:solidFill>
            <a:srgbClr val="D31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772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FY26 STRATEGIC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1A1A1A"/>
                </a:solidFill>
              </a:defRPr>
            </a:pPr>
            <a:r>
              <a:t>ITIL Standards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1A1A1A"/>
                </a:solidFill>
              </a:defRPr>
            </a:pPr>
            <a:r>
              <a:t>Implementation Guide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2D2D2D"/>
                </a:solidFill>
              </a:defRPr>
            </a:pPr>
            <a:r>
              <a:t>Team Performance Metrics System Based on ITIL 4 Framework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212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31334"/>
                </a:solidFill>
              </a:defRPr>
            </a:pPr>
            <a:r>
              <a:t>From Operational Excellence to Strategic Advantage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8580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D2D2D"/>
                </a:solidFill>
              </a:defRPr>
            </a:pPr>
            <a:r>
              <a:t>Portfolio &amp; Operation</a:t>
            </a:r>
            <a:br/>
            <a:r>
              <a:t>Data-Driven Performance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8580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4800" b="1">
                <a:solidFill>
                  <a:srgbClr val="D31334"/>
                </a:solidFill>
              </a:defRPr>
            </a:pPr>
            <a: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31334"/>
                </a:solidFill>
              </a:defRPr>
            </a:pPr>
            <a: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1A1A1A"/>
                </a:solidFill>
              </a:defRPr>
            </a:pPr>
            <a:r>
              <a:t>Table of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011680"/>
            <a:ext cx="1371600" cy="45720"/>
          </a:xfrm>
          <a:prstGeom prst="rect">
            <a:avLst/>
          </a:prstGeom>
          <a:solidFill>
            <a:srgbClr val="D31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2560320"/>
            <a:ext cx="6400800" cy="1371600"/>
          </a:xfrm>
          <a:prstGeom prst="round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8720" y="2926079"/>
            <a:ext cx="548640" cy="548640"/>
          </a:xfrm>
          <a:prstGeom prst="ellipse">
            <a:avLst/>
          </a:prstGeom>
          <a:solidFill>
            <a:srgbClr val="D31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9718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2788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</a:defRPr>
            </a:pPr>
            <a:r>
              <a:t>ITIL 4 Framework Overview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3291839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</a:defRPr>
            </a:pPr>
            <a:r>
              <a:t>Service Value Chain &amp; Operating Model, Mapping OKRs to ITIL Standards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0" y="2560320"/>
            <a:ext cx="6400800" cy="1371600"/>
          </a:xfrm>
          <a:prstGeom prst="round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046720" y="2926079"/>
            <a:ext cx="548640" cy="548640"/>
          </a:xfrm>
          <a:prstGeom prst="ellipse">
            <a:avLst/>
          </a:prstGeom>
          <a:solidFill>
            <a:srgbClr val="D31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29718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2788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</a:defRPr>
            </a:pPr>
            <a:r>
              <a:t>L1 Service Team Metrics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3291839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</a:defRPr>
            </a:pPr>
            <a:r>
              <a:t>Incident Management, Service Request Fulfillment, First Contact Resolution Rate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206240"/>
            <a:ext cx="6400800" cy="1371600"/>
          </a:xfrm>
          <a:prstGeom prst="round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88720" y="4572000"/>
            <a:ext cx="548640" cy="548640"/>
          </a:xfrm>
          <a:prstGeom prst="ellipse">
            <a:avLst/>
          </a:prstGeom>
          <a:solidFill>
            <a:srgbClr val="D31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46177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44348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</a:defRPr>
            </a:pPr>
            <a:r>
              <a:t>L2 Service Team Metrics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4937759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</a:defRPr>
            </a:pPr>
            <a:r>
              <a:t>Problem Management, Root Cause Analysis, Knowledge Management &amp; Enablement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0" y="4206240"/>
            <a:ext cx="6400800" cy="1371600"/>
          </a:xfrm>
          <a:prstGeom prst="round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0" y="4572000"/>
            <a:ext cx="548640" cy="548640"/>
          </a:xfrm>
          <a:prstGeom prst="ellipse">
            <a:avLst/>
          </a:prstGeom>
          <a:solidFill>
            <a:srgbClr val="D31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0" y="46177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44348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</a:defRPr>
            </a:pPr>
            <a:r>
              <a:t>NSO &amp; Hardware Team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0" y="4937759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</a:defRPr>
            </a:pPr>
            <a:r>
              <a:t>IT Asset Management, Change &amp; Release Management, New Store Deployment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5852160"/>
            <a:ext cx="6400800" cy="1371600"/>
          </a:xfrm>
          <a:prstGeom prst="round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88720" y="6217920"/>
            <a:ext cx="548640" cy="548640"/>
          </a:xfrm>
          <a:prstGeom prst="ellipse">
            <a:avLst/>
          </a:prstGeom>
          <a:solidFill>
            <a:srgbClr val="D31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88720" y="62636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60807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</a:defRPr>
            </a:pPr>
            <a:r>
              <a:t>Portfolio Management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65836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</a:defRPr>
            </a:pPr>
            <a:r>
              <a:t>Project Delivery, Service Level Management, Resource Optimization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0" y="5852160"/>
            <a:ext cx="6400800" cy="1371600"/>
          </a:xfrm>
          <a:prstGeom prst="round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046720" y="6217920"/>
            <a:ext cx="548640" cy="548640"/>
          </a:xfrm>
          <a:prstGeom prst="ellipse">
            <a:avLst/>
          </a:prstGeom>
          <a:solidFill>
            <a:srgbClr val="D31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46720" y="62636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78240" y="60807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</a:defRPr>
            </a:pPr>
            <a:r>
              <a:t>Vendor Management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0" y="65836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</a:defRPr>
            </a:pPr>
            <a:r>
              <a:t>Supplier Performance, Financial Management, Compliance &amp; Risk Control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31334"/>
                </a:solidFill>
              </a:defRPr>
            </a:pPr>
            <a:r>
              <a:t>ITIL 4 SERVICE VALUE 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A1A1A"/>
                </a:solidFill>
              </a:defRPr>
            </a:pPr>
            <a:r>
              <a:t>ITIL 4 Service Value Chain:</a:t>
            </a:r>
            <a:br/>
            <a:r>
              <a:t>Our Operating Framework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286000"/>
            <a:ext cx="1371600" cy="45720"/>
          </a:xfrm>
          <a:prstGeom prst="rect">
            <a:avLst/>
          </a:prstGeom>
          <a:solidFill>
            <a:srgbClr val="D31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2743200"/>
            <a:ext cx="640080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31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8720" y="3154680"/>
            <a:ext cx="548640" cy="548640"/>
          </a:xfrm>
          <a:prstGeom prst="ellipse">
            <a:avLst/>
          </a:prstGeom>
          <a:solidFill>
            <a:srgbClr val="D31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32004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30632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1A"/>
                </a:solidFill>
              </a:defRPr>
            </a:pPr>
            <a:r>
              <a:t>Plan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3566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</a:defRPr>
            </a:pPr>
            <a:r>
              <a:t>Strategic Planning &amp; Goal Alignment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0" y="2743200"/>
            <a:ext cx="640080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31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046720" y="3154680"/>
            <a:ext cx="548640" cy="548640"/>
          </a:xfrm>
          <a:prstGeom prst="ellipse">
            <a:avLst/>
          </a:prstGeom>
          <a:solidFill>
            <a:srgbClr val="D31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32004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30632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1A"/>
                </a:solidFill>
              </a:defRPr>
            </a:pPr>
            <a:r>
              <a:t>Improve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3566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</a:defRPr>
            </a:pPr>
            <a:r>
              <a:t>Continuous Improvement &amp; Optimization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389120"/>
            <a:ext cx="640080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31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88720" y="4800600"/>
            <a:ext cx="548640" cy="548640"/>
          </a:xfrm>
          <a:prstGeom prst="ellipse">
            <a:avLst/>
          </a:prstGeom>
          <a:solidFill>
            <a:srgbClr val="D31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48463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470915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1A"/>
                </a:solidFill>
              </a:defRPr>
            </a:pPr>
            <a:r>
              <a:t>Engage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52120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</a:defRPr>
            </a:pPr>
            <a:r>
              <a:t>Stakeholder Engagement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0" y="4389120"/>
            <a:ext cx="640080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31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0" y="4800600"/>
            <a:ext cx="548640" cy="548640"/>
          </a:xfrm>
          <a:prstGeom prst="ellipse">
            <a:avLst/>
          </a:prstGeom>
          <a:solidFill>
            <a:srgbClr val="D31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0" y="48463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470915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1A"/>
                </a:solidFill>
              </a:defRPr>
            </a:pPr>
            <a:r>
              <a:t>Design &amp; Transition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0" y="52120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</a:defRPr>
            </a:pPr>
            <a:r>
              <a:t>Service Design &amp; Transition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6035040"/>
            <a:ext cx="640080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31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88720" y="6446520"/>
            <a:ext cx="548640" cy="548640"/>
          </a:xfrm>
          <a:prstGeom prst="ellipse">
            <a:avLst/>
          </a:prstGeom>
          <a:solidFill>
            <a:srgbClr val="D31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88720" y="64922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635507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1A"/>
                </a:solidFill>
              </a:defRPr>
            </a:pPr>
            <a:r>
              <a:t>Obtain/Build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68580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</a:defRPr>
            </a:pPr>
            <a:r>
              <a:t>Resource Acquisition &amp; Build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0" y="6035040"/>
            <a:ext cx="640080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31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046720" y="6446520"/>
            <a:ext cx="548640" cy="548640"/>
          </a:xfrm>
          <a:prstGeom prst="ellipse">
            <a:avLst/>
          </a:prstGeom>
          <a:solidFill>
            <a:srgbClr val="D31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46720" y="64922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78240" y="635507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1A"/>
                </a:solidFill>
              </a:defRPr>
            </a:pPr>
            <a:r>
              <a:t>Deliver &amp; Support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0" y="68580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</a:defRPr>
            </a:pPr>
            <a:r>
              <a:t>Service Delivery &amp; Support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31334"/>
                </a:solidFill>
              </a:defRPr>
            </a:pPr>
            <a:r>
              <a:t>L1 SERVICE TEAM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1A1A1A"/>
                </a:solidFill>
              </a:defRPr>
            </a:pPr>
            <a:r>
              <a:t>L1 Service Team KPIs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011680"/>
            <a:ext cx="1371600" cy="45720"/>
          </a:xfrm>
          <a:prstGeom prst="rect">
            <a:avLst/>
          </a:prstGeom>
          <a:solidFill>
            <a:srgbClr val="D31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2560320"/>
            <a:ext cx="6400800" cy="5029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88720" y="2743200"/>
            <a:ext cx="2286000" cy="365760"/>
          </a:xfrm>
          <a:prstGeom prst="roundRect">
            <a:avLst/>
          </a:prstGeom>
          <a:solidFill>
            <a:srgbClr val="D31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788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Service Desk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4747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</a:defRPr>
            </a:pPr>
            <a:r>
              <a:t>✓  Incident Response Time &lt; 15 minutes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1148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</a:defRPr>
            </a:pPr>
            <a:r>
              <a:t>✓  First Contact Resolution Rate &gt; 75%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754879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</a:defRPr>
            </a:pPr>
            <a:r>
              <a:t>✓  Service Request Fulfillment SLA &gt; 90%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394959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</a:defRPr>
            </a:pPr>
            <a:r>
              <a:t>✓  Customer Satisfaction Score &gt; 4.2/5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603504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</a:defRPr>
            </a:pPr>
            <a:r>
              <a:t>✓  Average Handle Time optimization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66751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</a:defRPr>
            </a:pPr>
            <a:r>
              <a:t>✓  Ticket Escalation Rate &lt; 20%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2560320"/>
            <a:ext cx="640080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46720" y="2743200"/>
            <a:ext cx="2743200" cy="365760"/>
          </a:xfrm>
          <a:prstGeom prst="roundRect">
            <a:avLst/>
          </a:prstGeom>
          <a:solidFill>
            <a:srgbClr val="D31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0" y="2788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Key Focus Areas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34747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</a:defRPr>
            </a:pPr>
            <a:r>
              <a:t>✓  Reduce mean time to acknowledge (MTTA)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41148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</a:defRPr>
            </a:pPr>
            <a:r>
              <a:t>✓  Improve first call resolution (FCR)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754879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</a:defRPr>
            </a:pPr>
            <a:r>
              <a:t>✓  Enhance self-service adoption 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5394959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</a:defRPr>
            </a:pPr>
            <a:r>
              <a:t>✓  Standardize ticket categorization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603504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</a:defRPr>
            </a:pPr>
            <a:r>
              <a:t>✓  Strengthen knowledge base utilization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66751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</a:defRPr>
            </a:pPr>
            <a:r>
              <a:t>✓  Implement proactive monitoring alerts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31334"/>
                </a:solidFill>
              </a:defRPr>
            </a:pPr>
            <a:r>
              <a:t>L2 SERVICE TEAM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1A1A1A"/>
                </a:solidFill>
              </a:defRPr>
            </a:pPr>
            <a:r>
              <a:t>L2 Service Team KPIs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011680"/>
            <a:ext cx="1371600" cy="45720"/>
          </a:xfrm>
          <a:prstGeom prst="rect">
            <a:avLst/>
          </a:prstGeom>
          <a:solidFill>
            <a:srgbClr val="D31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2560320"/>
            <a:ext cx="640080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88720" y="2743200"/>
            <a:ext cx="3200400" cy="365760"/>
          </a:xfrm>
          <a:prstGeom prst="roundRect">
            <a:avLst/>
          </a:prstGeom>
          <a:solidFill>
            <a:srgbClr val="D31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788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Problem Management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4747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</a:defRPr>
            </a:pPr>
            <a:r>
              <a:t>✓  Problem Identification Accuracy &gt; 85%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1148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</a:defRPr>
            </a:pPr>
            <a:r>
              <a:t>✓  Root Cause Analysis Completion 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754879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</a:defRPr>
            </a:pPr>
            <a:r>
              <a:t>✓  Known Error Database Update Timeliness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394959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</a:defRPr>
            </a:pPr>
            <a:r>
              <a:t>✓  Problem Resolution SLA Achievement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603504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</a:defRPr>
            </a:pPr>
            <a:r>
              <a:t>✓  Recurring Incident Reduction 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66751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</a:defRPr>
            </a:pPr>
            <a:r>
              <a:t>✓  Major Problem Review Documentation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2560320"/>
            <a:ext cx="640080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46720" y="2743200"/>
            <a:ext cx="3200400" cy="365760"/>
          </a:xfrm>
          <a:prstGeom prst="roundRect">
            <a:avLst/>
          </a:prstGeom>
          <a:solidFill>
            <a:srgbClr val="D31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0" y="2788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Knowledge Management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34747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</a:defRPr>
            </a:pPr>
            <a:r>
              <a:t>✓  Knowledge Article Creation Rate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41148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</a:defRPr>
            </a:pPr>
            <a:r>
              <a:t>✓  Knowledge Base Usage &amp; Feedback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754879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</a:defRPr>
            </a:pPr>
            <a:r>
              <a:t>✓  Technical Documentation Quality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5394959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</a:defRPr>
            </a:pPr>
            <a:r>
              <a:t>✓  Cross-team Knowledge Transfer Sessions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603504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</a:defRPr>
            </a:pPr>
            <a:r>
              <a:t>✓  Training Material Development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66751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</a:defRPr>
            </a:pPr>
            <a:r>
              <a:t>✓  Lessons Learned Documentation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31334"/>
                </a:solidFill>
              </a:defRPr>
            </a:pPr>
            <a:r>
              <a:t>NSO &amp; HARDWARE TEAM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1A1A1A"/>
                </a:solidFill>
              </a:defRPr>
            </a:pPr>
            <a:r>
              <a:t>NSO &amp; Hardware Team KPIs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011680"/>
            <a:ext cx="1371600" cy="45720"/>
          </a:xfrm>
          <a:prstGeom prst="rect">
            <a:avLst/>
          </a:prstGeom>
          <a:solidFill>
            <a:srgbClr val="D31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2560320"/>
            <a:ext cx="4389120" cy="5029200"/>
          </a:xfrm>
          <a:prstGeom prst="round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560320" y="2926080"/>
            <a:ext cx="1097280" cy="1097280"/>
          </a:xfrm>
          <a:prstGeom prst="ellipse">
            <a:avLst/>
          </a:prstGeom>
          <a:solidFill>
            <a:srgbClr val="D31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0" y="315468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20624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1A1A"/>
                </a:solidFill>
              </a:defRPr>
            </a:pPr>
            <a:r>
              <a:t>IT Asset 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84632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</a:defRPr>
            </a:pPr>
            <a:r>
              <a:t>• Asset Inventory Accuracy &gt; 98%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5394959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</a:defRPr>
            </a:pPr>
            <a:r>
              <a:t>• Asset Lifecycle Tracking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594360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</a:defRPr>
            </a:pPr>
            <a:r>
              <a:t>• Procurement Process Efficiency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649224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</a:defRPr>
            </a:pPr>
            <a:r>
              <a:t>• Asset Disposal Compliance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0" y="2560320"/>
            <a:ext cx="4389120" cy="5029200"/>
          </a:xfrm>
          <a:prstGeom prst="round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315200" y="2926080"/>
            <a:ext cx="1097280" cy="1097280"/>
          </a:xfrm>
          <a:prstGeom prst="ellipse">
            <a:avLst/>
          </a:prstGeom>
          <a:solidFill>
            <a:srgbClr val="D31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0" y="315468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420624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1A1A"/>
                </a:solidFill>
              </a:defRPr>
            </a:pPr>
            <a:r>
              <a:t>Change &amp; Release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484632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</a:defRPr>
            </a:pPr>
            <a:r>
              <a:t>• Change Success Rate &gt; 95%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5394959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</a:defRPr>
            </a:pPr>
            <a:r>
              <a:t>• Emergency Change Rate &lt; 10%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594360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</a:defRPr>
            </a:pPr>
            <a:r>
              <a:t>• Release Deployment Time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649224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</a:defRPr>
            </a:pPr>
            <a:r>
              <a:t>• Rollback Rate Minimization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424160" y="2560320"/>
            <a:ext cx="4389120" cy="5029200"/>
          </a:xfrm>
          <a:prstGeom prst="round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2070080" y="2926080"/>
            <a:ext cx="1097280" cy="1097280"/>
          </a:xfrm>
          <a:prstGeom prst="ellipse">
            <a:avLst/>
          </a:prstGeom>
          <a:solidFill>
            <a:srgbClr val="D31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070080" y="315468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🏪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0" y="420624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1A1A"/>
                </a:solidFill>
              </a:defRPr>
            </a:pPr>
            <a:r>
              <a:t>New Store Deployment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0" y="484632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</a:defRPr>
            </a:pPr>
            <a:r>
              <a:t>• Store Opening On-time Rate &gt; 90%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8480" y="5394959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</a:defRPr>
            </a:pPr>
            <a:r>
              <a:t>• IT Infrastructure Setup Time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98480" y="594360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</a:defRPr>
            </a:pPr>
            <a:r>
              <a:t>• Equipment Delivery Accuracy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98480" y="649224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</a:defRPr>
            </a:pPr>
            <a:r>
              <a:t>• Post-opening Support Handover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31334"/>
                </a:solidFill>
              </a:defRPr>
            </a:pPr>
            <a:r>
              <a:t>PORTFOLIO MANAGEMENT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1A1A1A"/>
                </a:solidFill>
              </a:defRPr>
            </a:pPr>
            <a:r>
              <a:t>Portfolio Management KPIs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011680"/>
            <a:ext cx="1371600" cy="45720"/>
          </a:xfrm>
          <a:prstGeom prst="rect">
            <a:avLst/>
          </a:prstGeom>
          <a:solidFill>
            <a:srgbClr val="D31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2560320"/>
            <a:ext cx="640080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88720" y="2743200"/>
            <a:ext cx="2743200" cy="365760"/>
          </a:xfrm>
          <a:prstGeom prst="roundRect">
            <a:avLst/>
          </a:prstGeom>
          <a:solidFill>
            <a:srgbClr val="D31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788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Project Delivery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4747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</a:defRPr>
            </a:pPr>
            <a:r>
              <a:t>✓  Project On-time Delivery Rate &gt; 85%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1148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</a:defRPr>
            </a:pPr>
            <a:r>
              <a:t>✓  Budget Variance Control &lt; 10%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754879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</a:defRPr>
            </a:pPr>
            <a:r>
              <a:t>✓  Scope Change Management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394959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</a:defRPr>
            </a:pPr>
            <a:r>
              <a:t>✓  Resource Utilization 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603504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</a:defRPr>
            </a:pPr>
            <a:r>
              <a:t>✓  Project Risk Mitigation Effectiveness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66751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</a:defRPr>
            </a:pPr>
            <a:r>
              <a:t>✓  Stakeholder Satisfaction Score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2560320"/>
            <a:ext cx="640080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46720" y="2743200"/>
            <a:ext cx="3657600" cy="365760"/>
          </a:xfrm>
          <a:prstGeom prst="roundRect">
            <a:avLst/>
          </a:prstGeom>
          <a:solidFill>
            <a:srgbClr val="D31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0" y="2788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Service Level Management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34747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</a:defRPr>
            </a:pPr>
            <a:r>
              <a:t>✓  SLA Compliance Rate &gt; 95%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41148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</a:defRPr>
            </a:pPr>
            <a:r>
              <a:t>✓  Service Availability &gt; 99.5%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754879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</a:defRPr>
            </a:pPr>
            <a:r>
              <a:t>✓  Mean Time To Recovery (MTTR)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5394959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</a:defRPr>
            </a:pPr>
            <a:r>
              <a:t>✓  Capacity Planning Accuracy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603504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</a:defRPr>
            </a:pPr>
            <a:r>
              <a:t>✓  Service Improvement Initiative Tracking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66751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</a:defRPr>
            </a:pPr>
            <a:r>
              <a:t>✓  Business Continuity Readiness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31334"/>
                </a:solidFill>
              </a:defRPr>
            </a:pPr>
            <a:r>
              <a:t>VENDOR MANAGEMENT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1A1A1A"/>
                </a:solidFill>
              </a:defRPr>
            </a:pPr>
            <a:r>
              <a:t>Vendor Management KPIs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011680"/>
            <a:ext cx="1371600" cy="45720"/>
          </a:xfrm>
          <a:prstGeom prst="rect">
            <a:avLst/>
          </a:prstGeom>
          <a:solidFill>
            <a:srgbClr val="D31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2560320"/>
            <a:ext cx="640080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88720" y="2743200"/>
            <a:ext cx="3200400" cy="365760"/>
          </a:xfrm>
          <a:prstGeom prst="roundRect">
            <a:avLst/>
          </a:prstGeom>
          <a:solidFill>
            <a:srgbClr val="D31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788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Supplier Performance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4747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</a:defRPr>
            </a:pPr>
            <a:r>
              <a:t>✓  Vendor SLA Compliance &gt; 90%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1148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</a:defRPr>
            </a:pPr>
            <a:r>
              <a:t>✓  Service Quality Score &gt; 4.0/5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754879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</a:defRPr>
            </a:pPr>
            <a:r>
              <a:t>✓  Incident Resolution Time by Vendor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394959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</a:defRPr>
            </a:pPr>
            <a:r>
              <a:t>✓  Vendor Responsiveness Rating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603504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</a:defRPr>
            </a:pPr>
            <a:r>
              <a:t>✓  Contract Renewal 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66751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</a:defRPr>
            </a:pPr>
            <a:r>
              <a:t>✓  Vendor Diversification Index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2560320"/>
            <a:ext cx="640080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46720" y="2743200"/>
            <a:ext cx="2743200" cy="365760"/>
          </a:xfrm>
          <a:prstGeom prst="roundRect">
            <a:avLst/>
          </a:prstGeom>
          <a:solidFill>
            <a:srgbClr val="D31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0" y="2788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Financial &amp; Risk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34747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</a:defRPr>
            </a:pPr>
            <a:r>
              <a:t>✓  Cost Savings Achievement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41148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</a:defRPr>
            </a:pPr>
            <a:r>
              <a:t>✓  Budget vs. Actual Spend Variance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754879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</a:defRPr>
            </a:pPr>
            <a:r>
              <a:t>✓  Contract Compliance 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5394959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</a:defRPr>
            </a:pPr>
            <a:r>
              <a:t>✓  Risk Assessment Completion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603504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</a:defRPr>
            </a:pPr>
            <a:r>
              <a:t>✓  Security Audit Pass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66751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</a:defRPr>
            </a:pPr>
            <a:r>
              <a:t>✓  Vendor Business Continuity Plans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31334"/>
                </a:solidFill>
              </a:defRPr>
            </a:pPr>
            <a:r>
              <a:t>IMPLEMENTATION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1A1A1A"/>
                </a:solidFill>
              </a:defRPr>
            </a:pPr>
            <a:r>
              <a:t>FY26 Implementation Timeline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011680"/>
            <a:ext cx="1371600" cy="45720"/>
          </a:xfrm>
          <a:prstGeom prst="rect">
            <a:avLst/>
          </a:prstGeom>
          <a:solidFill>
            <a:srgbClr val="D31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3200400"/>
            <a:ext cx="3200400" cy="3657600"/>
          </a:xfrm>
          <a:prstGeom prst="round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3200400"/>
            <a:ext cx="3200400" cy="91440"/>
          </a:xfrm>
          <a:prstGeom prst="rect">
            <a:avLst/>
          </a:prstGeom>
          <a:solidFill>
            <a:srgbClr val="D31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832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D31334"/>
                </a:solidFill>
              </a:defRPr>
            </a:pPr>
            <a:r>
              <a:t>Q1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931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A1A1A"/>
                </a:solidFill>
              </a:defRPr>
            </a:pPr>
            <a:r>
              <a:t>Foundation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572000"/>
            <a:ext cx="2834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D2D2D"/>
                </a:solidFill>
              </a:defRPr>
            </a:pPr>
            <a:r>
              <a:t>Framework Setup</a:t>
            </a:r>
            <a:br/>
            <a:r>
              <a:t>Baseline Assessment</a:t>
            </a:r>
            <a:br/>
            <a:r>
              <a:t>Tool Configuration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200400"/>
            <a:ext cx="3200400" cy="3657600"/>
          </a:xfrm>
          <a:prstGeom prst="round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60" y="3200400"/>
            <a:ext cx="3200400" cy="91440"/>
          </a:xfrm>
          <a:prstGeom prst="rect">
            <a:avLst/>
          </a:prstGeom>
          <a:solidFill>
            <a:srgbClr val="D31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33832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D31334"/>
                </a:solidFill>
              </a:defRPr>
            </a:pPr>
            <a:r>
              <a:t>Q2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3931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A1A1A"/>
                </a:solidFill>
              </a:defRPr>
            </a:pPr>
            <a:r>
              <a:t>Pilot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4572000"/>
            <a:ext cx="2834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D2D2D"/>
                </a:solidFill>
              </a:defRPr>
            </a:pPr>
            <a:r>
              <a:t>L1 &amp; L2 Teams</a:t>
            </a:r>
            <a:br/>
            <a:r>
              <a:t>Dashboard Deployment</a:t>
            </a:r>
            <a:br/>
            <a:r>
              <a:t>Training Program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3200400"/>
            <a:ext cx="3200400" cy="3657600"/>
          </a:xfrm>
          <a:prstGeom prst="round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3200400"/>
            <a:ext cx="3200400" cy="91440"/>
          </a:xfrm>
          <a:prstGeom prst="rect">
            <a:avLst/>
          </a:prstGeom>
          <a:solidFill>
            <a:srgbClr val="D31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0" y="33832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D31334"/>
                </a:solidFill>
              </a:defRPr>
            </a:pPr>
            <a:r>
              <a:t>Q3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3931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A1A1A"/>
                </a:solidFill>
              </a:defRPr>
            </a:pPr>
            <a:r>
              <a:t>Expansion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572000"/>
            <a:ext cx="2834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D2D2D"/>
                </a:solidFill>
              </a:defRPr>
            </a:pPr>
            <a:r>
              <a:t>All Teams Onboard</a:t>
            </a:r>
            <a:br/>
            <a:r>
              <a:t>Integration Complete</a:t>
            </a:r>
            <a:br/>
            <a:r>
              <a:t>Process Optimization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612880" y="3200400"/>
            <a:ext cx="3200400" cy="3657600"/>
          </a:xfrm>
          <a:prstGeom prst="round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612880" y="3200400"/>
            <a:ext cx="3200400" cy="91440"/>
          </a:xfrm>
          <a:prstGeom prst="rect">
            <a:avLst/>
          </a:prstGeom>
          <a:solidFill>
            <a:srgbClr val="D31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612880" y="33832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D31334"/>
                </a:solidFill>
              </a:defRPr>
            </a:pPr>
            <a:r>
              <a:t>Q4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612880" y="3931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A1A1A"/>
                </a:solidFill>
              </a:defRPr>
            </a:pPr>
            <a:r>
              <a:t>Optimization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795759" y="4572000"/>
            <a:ext cx="2834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D2D2D"/>
                </a:solidFill>
              </a:defRPr>
            </a:pPr>
            <a:r>
              <a:t>Full Operations</a:t>
            </a:r>
            <a:br/>
            <a:r>
              <a:t>Continuous Improvement</a:t>
            </a:r>
            <a:br/>
            <a:r>
              <a:t>FY27 Planning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31334"/>
                </a:solidFill>
              </a:defRPr>
            </a:pPr>
            <a: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1A1A1A"/>
                </a:solidFill>
              </a:defRPr>
            </a:pPr>
            <a:r>
              <a:t>Key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011680"/>
            <a:ext cx="1371600" cy="45720"/>
          </a:xfrm>
          <a:prstGeom prst="rect">
            <a:avLst/>
          </a:prstGeom>
          <a:solidFill>
            <a:srgbClr val="D31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2560320"/>
            <a:ext cx="640080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88720" y="2743200"/>
            <a:ext cx="2743200" cy="365760"/>
          </a:xfrm>
          <a:prstGeom prst="roundRect">
            <a:avLst/>
          </a:prstGeom>
          <a:solidFill>
            <a:srgbClr val="D31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788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🎯 Core Principles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4747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</a:defRPr>
            </a:pPr>
            <a:r>
              <a:t>✓  Align ITIL 4 framework with business OKRs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1148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</a:defRPr>
            </a:pPr>
            <a:r>
              <a:t>✓  Data-driven performance measurement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754879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</a:defRPr>
            </a:pPr>
            <a:r>
              <a:t>✓  Continuous improvement culture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394959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</a:defRPr>
            </a:pPr>
            <a:r>
              <a:t>✓  Cross-team collaboration &amp; transparency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603504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</a:defRPr>
            </a:pPr>
            <a:r>
              <a:t>✓  Proactive service management approach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66751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</a:defRPr>
            </a:pPr>
            <a:r>
              <a:t>✓  Stakeholder-centric value delivery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2560320"/>
            <a:ext cx="640080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46720" y="2743200"/>
            <a:ext cx="2743200" cy="365760"/>
          </a:xfrm>
          <a:prstGeom prst="roundRect">
            <a:avLst/>
          </a:prstGeom>
          <a:solidFill>
            <a:srgbClr val="D31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0" y="2788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📈 Success Factors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34747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</a:defRPr>
            </a:pPr>
            <a:r>
              <a:t>✓  Executive sponsorship &amp; commitment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41148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</a:defRPr>
            </a:pPr>
            <a:r>
              <a:t>✓  Clear accountability &amp; ownership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754879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</a:defRPr>
            </a:pPr>
            <a:r>
              <a:t>✓  Regular metric review &amp; adjustment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5394959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</a:defRPr>
            </a:pPr>
            <a:r>
              <a:t>✓  Investment in training &amp; tools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603504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</a:defRPr>
            </a:pPr>
            <a:r>
              <a:t>✓  Vendor partnership excellence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66751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</a:defRPr>
            </a:pPr>
            <a:r>
              <a:t>✓  Agile adaptation to business needs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31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3200400"/>
            <a:ext cx="1463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754880"/>
            <a:ext cx="1463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