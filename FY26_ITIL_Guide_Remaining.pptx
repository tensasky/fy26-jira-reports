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VENDOR MANAGEMENT: FINANCE &amp; COMPLIANCE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Financial Management Metrics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2860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2860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Financial Forecast Accuracy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26974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Budget precision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331720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0" y="23774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98%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315468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2004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546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Audit Pass Rate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Compliance success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0" y="3200400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3246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100%</a:t>
            </a:r>
          </a:p>
        </p:txBody>
      </p:sp>
      <p:sp>
        <p:nvSpPr>
          <p:cNvPr id="18" name="Oval 17"/>
          <p:cNvSpPr/>
          <p:nvPr/>
        </p:nvSpPr>
        <p:spPr>
          <a:xfrm>
            <a:off x="914400" y="402336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069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40233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Cost Optimization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4434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Savings achieved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58000" y="4069080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0" y="4114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Track</a:t>
            </a:r>
          </a:p>
        </p:txBody>
      </p:sp>
      <p:sp>
        <p:nvSpPr>
          <p:cNvPr id="24" name="Oval 23"/>
          <p:cNvSpPr/>
          <p:nvPr/>
        </p:nvSpPr>
        <p:spPr>
          <a:xfrm>
            <a:off x="914400" y="489204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93775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8920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ROI Measurement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54480" y="53035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Investment returns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0" y="4937759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58000" y="498347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Calculate</a:t>
            </a:r>
          </a:p>
        </p:txBody>
      </p:sp>
      <p:sp>
        <p:nvSpPr>
          <p:cNvPr id="30" name="Oval 29"/>
          <p:cNvSpPr/>
          <p:nvPr/>
        </p:nvSpPr>
        <p:spPr>
          <a:xfrm>
            <a:off x="914400" y="576072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14400" y="5806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554480" y="5760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Budget Execution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54480" y="61722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Spend vs. plan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5806440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0" y="5852159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Monitor</a:t>
            </a:r>
          </a:p>
        </p:txBody>
      </p:sp>
      <p:sp>
        <p:nvSpPr>
          <p:cNvPr id="36" name="Oval 35"/>
          <p:cNvSpPr/>
          <p:nvPr/>
        </p:nvSpPr>
        <p:spPr>
          <a:xfrm>
            <a:off x="914400" y="66294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6675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54480" y="66294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Invoice Processing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54480" y="7040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04040"/>
                </a:solidFill>
              </a:defRPr>
            </a:pPr>
            <a:r>
              <a:t>Payment efficiency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6675120"/>
            <a:ext cx="2286000" cy="4114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58000" y="67208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Timely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10058400" y="2286000"/>
            <a:ext cx="4114800" cy="5029200"/>
          </a:xfrm>
          <a:prstGeom prst="roundRect">
            <a:avLst/>
          </a:prstGeom>
          <a:solidFill>
            <a:srgbClr val="F8F8F8"/>
          </a:solidFill>
          <a:ln w="38100">
            <a:solidFill>
              <a:srgbClr val="C3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332720" y="2560320"/>
            <a:ext cx="3657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31230"/>
                </a:solidFill>
              </a:defRPr>
            </a:pPr>
            <a:r>
              <a:t>FINANCIAL CONTROL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32720" y="3291840"/>
            <a:ext cx="3657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1A1A1A"/>
                </a:solidFill>
              </a:defRPr>
            </a:pPr>
            <a:r>
              <a:t>Strict financial discipline ensures every vendor dollar delivers maximum value.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CROSS-TEAM COLLABORATION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Knowledge Cycle &amp; Synergy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6583680" cy="22860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" y="246888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560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Knowledge Flow Efficiency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3200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L2 to L1 transfer speed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2286000"/>
            <a:ext cx="6583680" cy="22860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229600" y="246888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0" y="25146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5603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Cross-Team Escalation Quality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0" y="32004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Resolution effectiveness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846320"/>
            <a:ext cx="6583680" cy="22860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097280" y="50292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37360" y="5120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Joint Problem Resolution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37360" y="5760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Collaborative solve time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4846320"/>
            <a:ext cx="6583680" cy="22860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0" y="5029200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51206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Collaborative Project Success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69680" y="57607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Cross-functional delivery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" y="7406640"/>
            <a:ext cx="6583680" cy="22860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97280" y="7589519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97280" y="7635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7680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Information Sharing Frequency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737360" y="83210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Communication cadence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7406640"/>
            <a:ext cx="6583680" cy="2286000"/>
          </a:xfrm>
          <a:prstGeom prst="roundRect">
            <a:avLst/>
          </a:prstGeom>
          <a:solidFill>
            <a:srgbClr val="F8F8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229600" y="7589519"/>
            <a:ext cx="457200" cy="45720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229600" y="76352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76809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A1A1A"/>
                </a:solidFill>
              </a:defRPr>
            </a:pPr>
            <a:r>
              <a:t>Cross-Team Satisfaction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832104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404040"/>
                </a:solidFill>
              </a:defRPr>
            </a:pPr>
            <a:r>
              <a:t>Internal NPS score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00" cy="109728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7432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CONTINUOUS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371600"/>
            <a:ext cx="12801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1A1A1A"/>
                </a:solidFill>
              </a:defRPr>
            </a:pPr>
            <a:r>
              <a:t>ITIL Metrics &amp; Reporting</a:t>
            </a:r>
          </a:p>
        </p:txBody>
      </p:sp>
      <p:sp>
        <p:nvSpPr>
          <p:cNvPr id="6" name="Oval 5"/>
          <p:cNvSpPr/>
          <p:nvPr/>
        </p:nvSpPr>
        <p:spPr>
          <a:xfrm>
            <a:off x="914400" y="242316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22860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System-wide MTTR Improvement (Target: 15%)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24612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0896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Automation Rate Enhancement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406908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Overall SLA Achievement Trends</a:t>
            </a:r>
          </a:p>
        </p:txBody>
      </p:sp>
      <p:sp>
        <p:nvSpPr>
          <p:cNvPr id="12" name="Oval 11"/>
          <p:cNvSpPr/>
          <p:nvPr/>
        </p:nvSpPr>
        <p:spPr>
          <a:xfrm>
            <a:off x="914400" y="489204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71600" y="475488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Customer Satisfaction Trajectory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71500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57784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Cost-Benefit Analysis Evolution</a:t>
            </a:r>
          </a:p>
        </p:txBody>
      </p:sp>
      <p:sp>
        <p:nvSpPr>
          <p:cNvPr id="16" name="Oval 15"/>
          <p:cNvSpPr/>
          <p:nvPr/>
        </p:nvSpPr>
        <p:spPr>
          <a:xfrm>
            <a:off x="914400" y="6537960"/>
            <a:ext cx="182880" cy="182880"/>
          </a:xfrm>
          <a:prstGeom prst="ellipse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71600" y="6400800"/>
            <a:ext cx="1188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1A1A1A"/>
                </a:solidFill>
              </a:defRPr>
            </a:pPr>
            <a:r>
              <a:t>Continuous Improvement Project Completion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6858000"/>
            <a:ext cx="12801600" cy="1097280"/>
          </a:xfrm>
          <a:prstGeom prst="round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6995160"/>
            <a:ext cx="1280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Building a data-driven continuous improvement culture to ensure FY26 goals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C3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3200400"/>
            <a:ext cx="274320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From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200" b="1">
                <a:solidFill>
                  <a:srgbClr val="FFFFFF"/>
                </a:solidFill>
              </a:defRPr>
            </a:pPr>
            <a:r>
              <a:t>to 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029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</a:defRPr>
            </a:pPr>
            <a:r>
              <a:t>Our Commitment to Excellence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68580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</a:defRPr>
            </a:pPr>
            <a:r>
              <a:t>Integrate these ITIL metrics into daily operations. Monitor, improve, succeed.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0" y="713232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3600" b="1">
                <a:solidFill>
                  <a:srgbClr val="FFFFFF"/>
                </a:solidFill>
              </a:defRPr>
            </a:pPr>
            <a:r>
              <a:t>FY26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